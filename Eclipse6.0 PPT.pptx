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629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66505A-077F-4A56-8792-1D5AB9E2795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47CD0-A031-4363-AF89-79BF17CEF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863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47CD0-A031-4363-AF89-79BF17CEF85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532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47CD0-A031-4363-AF89-79BF17CEF85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416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212726"/>
            <a:ext cx="11741150" cy="6432548"/>
          </a:xfrm>
          <a:prstGeom prst="rect">
            <a:avLst/>
          </a:prstGeom>
        </p:spPr>
      </p:pic>
      <p:sp>
        <p:nvSpPr>
          <p:cNvPr id="4" name="Text 23"/>
          <p:cNvSpPr/>
          <p:nvPr/>
        </p:nvSpPr>
        <p:spPr>
          <a:xfrm>
            <a:off x="3718560" y="32232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2133600" y="2743200"/>
            <a:ext cx="6339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33600" y="2589477"/>
            <a:ext cx="381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EC603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14928" y="3348697"/>
            <a:ext cx="5660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Open Innovation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29000" y="5629850"/>
            <a:ext cx="701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</a:rPr>
              <a:t>Abhinav</a:t>
            </a:r>
            <a:r>
              <a:rPr lang="en-US" sz="3200" dirty="0" smtClean="0">
                <a:solidFill>
                  <a:schemeClr val="bg1"/>
                </a:solidFill>
              </a:rPr>
              <a:t> Roy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0064" y="4878259"/>
            <a:ext cx="746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chemeClr val="bg1"/>
                </a:solidFill>
              </a:rPr>
              <a:t>Pranveer</a:t>
            </a:r>
            <a:r>
              <a:rPr lang="en-US" sz="3200" dirty="0" smtClean="0">
                <a:solidFill>
                  <a:schemeClr val="bg1"/>
                </a:solidFill>
              </a:rPr>
              <a:t> Singh </a:t>
            </a:r>
            <a:r>
              <a:rPr lang="en-US" sz="3200" dirty="0" err="1" smtClean="0">
                <a:solidFill>
                  <a:schemeClr val="bg1"/>
                </a:solidFill>
              </a:rPr>
              <a:t>Institue</a:t>
            </a:r>
            <a:r>
              <a:rPr lang="en-US" sz="3200" dirty="0" smtClean="0">
                <a:solidFill>
                  <a:schemeClr val="bg1"/>
                </a:solidFill>
              </a:rPr>
              <a:t> of Technology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76600" y="4126668"/>
            <a:ext cx="434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BYTEFORCE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228600"/>
            <a:ext cx="11741150" cy="64325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flipH="1">
            <a:off x="838200" y="1885664"/>
            <a:ext cx="3429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8" name="Shape 23"/>
          <p:cNvSpPr/>
          <p:nvPr/>
        </p:nvSpPr>
        <p:spPr>
          <a:xfrm flipH="1">
            <a:off x="838199" y="2895600"/>
            <a:ext cx="45719" cy="2819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25"/>
          <p:cNvSpPr/>
          <p:nvPr/>
        </p:nvSpPr>
        <p:spPr>
          <a:xfrm>
            <a:off x="9601200" y="2590800"/>
            <a:ext cx="1752600" cy="1676400"/>
          </a:xfrm>
          <a:prstGeom prst="ellipse">
            <a:avLst/>
          </a:prstGeom>
          <a:solidFill>
            <a:srgbClr val="0077B6">
              <a:alpha val="3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990600" y="2743200"/>
            <a:ext cx="92964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2000" dirty="0" smtClean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faces increasing threats from Distributed Denial of Service (</a:t>
            </a:r>
            <a:r>
              <a:rPr lang="en-US" sz="2000" dirty="0" err="1" smtClean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r>
              <a:rPr lang="en-US" sz="2000" dirty="0" smtClean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attacks.
</a:t>
            </a:r>
            <a:r>
              <a:rPr lang="en-US" sz="2000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2000" dirty="0" smtClean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overwhelm infrastructure with massive traffic, causing outages for legitimate users.
</a:t>
            </a:r>
            <a:r>
              <a:rPr lang="en-US" sz="2000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2000" dirty="0" smtClean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 fall short — AI-powered, multi-layer defense is the modern solution.
</a:t>
            </a:r>
            <a:r>
              <a:rPr lang="en-US" sz="2000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2000" dirty="0" smtClean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an intelligent </a:t>
            </a:r>
            <a:r>
              <a:rPr lang="en-US" sz="2000" dirty="0" err="1" smtClean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r>
              <a:rPr lang="en-US" sz="2000" dirty="0" smtClean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detection &amp; mitigation system for cloud environments.
</a:t>
            </a:r>
            <a:r>
              <a:rPr lang="en-US" sz="2000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2000" dirty="0" smtClean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Machine Learning (ML) models with real-time traffic analysis and automated response.</a:t>
            </a:r>
            <a:endParaRPr lang="en-US" sz="2000" dirty="0" smtClean="0"/>
          </a:p>
          <a:p>
            <a:pPr algn="ctr"/>
            <a:r>
              <a:rPr lang="en-US" dirty="0" smtClean="0">
                <a:solidFill>
                  <a:srgbClr val="000000"/>
                </a:solidFill>
              </a:rPr>
              <a:t>🛡</a:t>
            </a:r>
            <a:endParaRPr lang="en-US" dirty="0" smtClean="0"/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9982200" y="2895600"/>
            <a:ext cx="99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4800" dirty="0" smtClean="0">
                <a:solidFill>
                  <a:schemeClr val="accent1"/>
                </a:solidFill>
              </a:rPr>
              <a:t>🛡</a:t>
            </a:r>
            <a:endParaRPr lang="en-US" sz="48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81000"/>
            <a:ext cx="11741150" cy="64325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133600"/>
            <a:ext cx="9906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3200" dirty="0" smtClean="0"/>
          </a:p>
          <a:p>
            <a:endParaRPr lang="en-IN" dirty="0"/>
          </a:p>
        </p:txBody>
      </p:sp>
      <p:sp>
        <p:nvSpPr>
          <p:cNvPr id="4" name="Shape 23"/>
          <p:cNvSpPr/>
          <p:nvPr/>
        </p:nvSpPr>
        <p:spPr>
          <a:xfrm>
            <a:off x="914400" y="2895600"/>
            <a:ext cx="2819400" cy="2971800"/>
          </a:xfrm>
          <a:prstGeom prst="rect">
            <a:avLst/>
          </a:prstGeom>
          <a:solidFill>
            <a:srgbClr val="242424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⚡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6800" y="38862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b="1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Attacks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143000" y="4572000"/>
            <a:ext cx="2362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UDP/ICMP floods overwhelm bandwidth, making services unavailable to users.</a:t>
            </a:r>
            <a:endParaRPr lang="en-US" dirty="0" smtClean="0"/>
          </a:p>
          <a:p>
            <a:endParaRPr lang="en-IN" dirty="0"/>
          </a:p>
        </p:txBody>
      </p:sp>
      <p:sp>
        <p:nvSpPr>
          <p:cNvPr id="10" name="Shape 23"/>
          <p:cNvSpPr/>
          <p:nvPr/>
        </p:nvSpPr>
        <p:spPr>
          <a:xfrm>
            <a:off x="4267200" y="2895600"/>
            <a:ext cx="2819400" cy="2971800"/>
          </a:xfrm>
          <a:prstGeom prst="rect">
            <a:avLst/>
          </a:prstGeom>
          <a:solidFill>
            <a:srgbClr val="242424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Shape 23"/>
          <p:cNvSpPr/>
          <p:nvPr/>
        </p:nvSpPr>
        <p:spPr>
          <a:xfrm>
            <a:off x="7620000" y="2895600"/>
            <a:ext cx="2819400" cy="2971800"/>
          </a:xfrm>
          <a:prstGeom prst="rect">
            <a:avLst/>
          </a:prstGeom>
          <a:solidFill>
            <a:srgbClr val="242424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5181600" y="3200400"/>
            <a:ext cx="917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🔄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95800" y="38862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Attacks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495800" y="4610844"/>
            <a:ext cx="243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dirty="0" smtClean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floods &amp; BGP attacks exploit protocol weaknesses to exhaust server resources.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534400" y="32004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🌐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86700" y="3900557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App-Layer Attacks</a:t>
            </a:r>
            <a:endParaRPr lang="en-US" dirty="0" smtClean="0"/>
          </a:p>
          <a:p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7620000" y="4608732"/>
            <a:ext cx="274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mtClean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floods &amp; DNS amplification mimic legitimate traffic, bypassing simple filters.</a:t>
            </a:r>
            <a:endParaRPr lang="en-US" dirty="0"/>
          </a:p>
        </p:txBody>
      </p:sp>
      <p:sp>
        <p:nvSpPr>
          <p:cNvPr id="21" name="Shape 35"/>
          <p:cNvSpPr/>
          <p:nvPr/>
        </p:nvSpPr>
        <p:spPr>
          <a:xfrm>
            <a:off x="1028700" y="6047494"/>
            <a:ext cx="9372600" cy="58190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Box 21"/>
          <p:cNvSpPr txBox="1"/>
          <p:nvPr/>
        </p:nvSpPr>
        <p:spPr>
          <a:xfrm flipH="1">
            <a:off x="1524000" y="6111172"/>
            <a:ext cx="838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 Cloud outages cost businesses millions per hour — intelligent protection is mission-critical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79913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28600"/>
            <a:ext cx="11741150" cy="64325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1798152"/>
            <a:ext cx="10134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200" dirty="0" smtClean="0"/>
          </a:p>
          <a:p>
            <a:endParaRPr lang="en-IN" dirty="0"/>
          </a:p>
        </p:txBody>
      </p:sp>
      <p:sp>
        <p:nvSpPr>
          <p:cNvPr id="5" name="Shape 23"/>
          <p:cNvSpPr/>
          <p:nvPr/>
        </p:nvSpPr>
        <p:spPr>
          <a:xfrm>
            <a:off x="762000" y="2513335"/>
            <a:ext cx="5012754" cy="459042"/>
          </a:xfrm>
          <a:prstGeom prst="rect">
            <a:avLst/>
          </a:prstGeom>
          <a:solidFill>
            <a:srgbClr val="004E7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6" name="Shape 27"/>
          <p:cNvSpPr/>
          <p:nvPr/>
        </p:nvSpPr>
        <p:spPr>
          <a:xfrm>
            <a:off x="762000" y="3292933"/>
            <a:ext cx="5029200" cy="475488"/>
          </a:xfrm>
          <a:prstGeom prst="rect">
            <a:avLst/>
          </a:prstGeom>
          <a:solidFill>
            <a:srgbClr val="005F8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7" name="Shape 31"/>
          <p:cNvSpPr/>
          <p:nvPr/>
        </p:nvSpPr>
        <p:spPr>
          <a:xfrm>
            <a:off x="762000" y="4080873"/>
            <a:ext cx="5029200" cy="475488"/>
          </a:xfrm>
          <a:prstGeom prst="rect">
            <a:avLst/>
          </a:prstGeom>
          <a:solidFill>
            <a:srgbClr val="0077B6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8" name="Shape 35"/>
          <p:cNvSpPr/>
          <p:nvPr/>
        </p:nvSpPr>
        <p:spPr>
          <a:xfrm>
            <a:off x="762000" y="4893430"/>
            <a:ext cx="5029200" cy="463179"/>
          </a:xfrm>
          <a:prstGeom prst="rect">
            <a:avLst/>
          </a:prstGeom>
          <a:solidFill>
            <a:srgbClr val="0096C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9" name="Shape 39"/>
          <p:cNvSpPr/>
          <p:nvPr/>
        </p:nvSpPr>
        <p:spPr>
          <a:xfrm>
            <a:off x="762000" y="5693677"/>
            <a:ext cx="5012754" cy="463181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  <a:prstDash val="solid"/>
          </a:ln>
        </p:spPr>
      </p:sp>
      <p:cxnSp>
        <p:nvCxnSpPr>
          <p:cNvPr id="10" name="Straight Connector 9"/>
          <p:cNvCxnSpPr>
            <a:endCxn id="6" idx="0"/>
          </p:cNvCxnSpPr>
          <p:nvPr/>
        </p:nvCxnSpPr>
        <p:spPr>
          <a:xfrm>
            <a:off x="3276600" y="2972377"/>
            <a:ext cx="0" cy="320556"/>
          </a:xfrm>
          <a:prstGeom prst="line">
            <a:avLst/>
          </a:prstGeom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6" idx="2"/>
            <a:endCxn id="7" idx="0"/>
          </p:cNvCxnSpPr>
          <p:nvPr/>
        </p:nvCxnSpPr>
        <p:spPr>
          <a:xfrm>
            <a:off x="3276600" y="3768421"/>
            <a:ext cx="0" cy="3124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2"/>
            <a:endCxn id="8" idx="0"/>
          </p:cNvCxnSpPr>
          <p:nvPr/>
        </p:nvCxnSpPr>
        <p:spPr>
          <a:xfrm>
            <a:off x="3276600" y="4556361"/>
            <a:ext cx="0" cy="337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048000" y="5305510"/>
            <a:ext cx="0" cy="337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hape 41"/>
          <p:cNvSpPr/>
          <p:nvPr/>
        </p:nvSpPr>
        <p:spPr>
          <a:xfrm>
            <a:off x="7772400" y="2501719"/>
            <a:ext cx="2651760" cy="868680"/>
          </a:xfrm>
          <a:prstGeom prst="rect">
            <a:avLst/>
          </a:prstGeom>
          <a:solidFill>
            <a:srgbClr val="24242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41"/>
          <p:cNvSpPr/>
          <p:nvPr/>
        </p:nvSpPr>
        <p:spPr>
          <a:xfrm>
            <a:off x="7772400" y="5173443"/>
            <a:ext cx="2651760" cy="868680"/>
          </a:xfrm>
          <a:prstGeom prst="rect">
            <a:avLst/>
          </a:prstGeom>
          <a:solidFill>
            <a:srgbClr val="24242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41"/>
          <p:cNvSpPr/>
          <p:nvPr/>
        </p:nvSpPr>
        <p:spPr>
          <a:xfrm>
            <a:off x="7772400" y="3856215"/>
            <a:ext cx="2651760" cy="868680"/>
          </a:xfrm>
          <a:prstGeom prst="rect">
            <a:avLst/>
          </a:prstGeom>
          <a:solidFill>
            <a:srgbClr val="24242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Box 29"/>
          <p:cNvSpPr txBox="1"/>
          <p:nvPr/>
        </p:nvSpPr>
        <p:spPr>
          <a:xfrm>
            <a:off x="1280287" y="4159093"/>
            <a:ext cx="48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  </a:t>
            </a:r>
            <a:r>
              <a:rPr lang="en-US" sz="1400" dirty="0" smtClean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+ Spark Streaming</a:t>
            </a:r>
            <a:endParaRPr lang="en-US" sz="1400" dirty="0" smtClean="0"/>
          </a:p>
          <a:p>
            <a:endParaRPr lang="en-IN" dirty="0"/>
          </a:p>
        </p:txBody>
      </p:sp>
      <p:sp>
        <p:nvSpPr>
          <p:cNvPr id="34" name="TextBox 33"/>
          <p:cNvSpPr txBox="1"/>
          <p:nvPr/>
        </p:nvSpPr>
        <p:spPr>
          <a:xfrm>
            <a:off x="1066800" y="4987573"/>
            <a:ext cx="4914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LAYER  </a:t>
            </a:r>
            <a:r>
              <a:rPr lang="en-US" sz="1400" dirty="0" smtClean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· IP Blacklist · Auto-Scale</a:t>
            </a:r>
            <a:endParaRPr lang="en-US" sz="1400" dirty="0" smtClean="0"/>
          </a:p>
          <a:p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1388110" y="3376378"/>
            <a:ext cx="4838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LAYER  </a:t>
            </a:r>
            <a:r>
              <a:rPr lang="en-US" sz="1400" dirty="0" smtClean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Models: RF · LSTM · SVM</a:t>
            </a:r>
            <a:endParaRPr lang="en-US" sz="1400" dirty="0" smtClean="0"/>
          </a:p>
          <a:p>
            <a:endParaRPr lang="en-IN" dirty="0"/>
          </a:p>
        </p:txBody>
      </p:sp>
      <p:sp>
        <p:nvSpPr>
          <p:cNvPr id="36" name="TextBox 35"/>
          <p:cNvSpPr txBox="1"/>
          <p:nvPr/>
        </p:nvSpPr>
        <p:spPr>
          <a:xfrm>
            <a:off x="1583754" y="2632918"/>
            <a:ext cx="472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LAYER  </a:t>
            </a:r>
            <a:r>
              <a:rPr lang="en-US" sz="1400" dirty="0" smtClean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· WAF · Load Balancer</a:t>
            </a:r>
            <a:endParaRPr lang="en-US" sz="1400" dirty="0" smtClean="0"/>
          </a:p>
          <a:p>
            <a:endParaRPr lang="en-IN" dirty="0"/>
          </a:p>
        </p:txBody>
      </p:sp>
      <p:sp>
        <p:nvSpPr>
          <p:cNvPr id="37" name="TextBox 36"/>
          <p:cNvSpPr txBox="1"/>
          <p:nvPr/>
        </p:nvSpPr>
        <p:spPr>
          <a:xfrm>
            <a:off x="936054" y="5763906"/>
            <a:ext cx="4838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  </a:t>
            </a:r>
            <a:r>
              <a:rPr lang="en-US" sz="1400" dirty="0" err="1" smtClean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r>
              <a:rPr lang="en-US" sz="1400" dirty="0" smtClean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Cluster · Protected Services</a:t>
            </a:r>
            <a:endParaRPr lang="en-US" sz="1400" dirty="0" smtClean="0"/>
          </a:p>
          <a:p>
            <a:endParaRPr lang="en-IN" dirty="0"/>
          </a:p>
        </p:txBody>
      </p:sp>
      <p:sp>
        <p:nvSpPr>
          <p:cNvPr id="38" name="TextBox 37"/>
          <p:cNvSpPr txBox="1"/>
          <p:nvPr/>
        </p:nvSpPr>
        <p:spPr>
          <a:xfrm>
            <a:off x="8001000" y="2659926"/>
            <a:ext cx="2133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98.9%</a:t>
            </a:r>
            <a:endParaRPr lang="en-US" sz="2400" dirty="0" smtClean="0"/>
          </a:p>
          <a:p>
            <a:endParaRPr lang="en-IN" dirty="0"/>
          </a:p>
        </p:txBody>
      </p:sp>
      <p:sp>
        <p:nvSpPr>
          <p:cNvPr id="39" name="TextBox 38"/>
          <p:cNvSpPr txBox="1"/>
          <p:nvPr/>
        </p:nvSpPr>
        <p:spPr>
          <a:xfrm>
            <a:off x="7919656" y="3029258"/>
            <a:ext cx="2385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Accuracy</a:t>
            </a:r>
            <a:endParaRPr lang="en-US" sz="1400" dirty="0" smtClean="0"/>
          </a:p>
          <a:p>
            <a:endParaRPr lang="en-IN" sz="1400" dirty="0"/>
          </a:p>
        </p:txBody>
      </p:sp>
      <p:sp>
        <p:nvSpPr>
          <p:cNvPr id="40" name="TextBox 39"/>
          <p:cNvSpPr txBox="1"/>
          <p:nvPr/>
        </p:nvSpPr>
        <p:spPr>
          <a:xfrm>
            <a:off x="7919656" y="3961153"/>
            <a:ext cx="22149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99.2%</a:t>
            </a:r>
            <a:endParaRPr lang="en-US" sz="2400" dirty="0" smtClean="0"/>
          </a:p>
          <a:p>
            <a:endParaRPr lang="en-IN" dirty="0"/>
          </a:p>
        </p:txBody>
      </p:sp>
      <p:sp>
        <p:nvSpPr>
          <p:cNvPr id="41" name="TextBox 40"/>
          <p:cNvSpPr txBox="1"/>
          <p:nvPr/>
        </p:nvSpPr>
        <p:spPr>
          <a:xfrm>
            <a:off x="7838535" y="4396489"/>
            <a:ext cx="2385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Accuracy</a:t>
            </a:r>
            <a:endParaRPr lang="en-US" sz="1400" dirty="0" smtClean="0"/>
          </a:p>
          <a:p>
            <a:endParaRPr lang="en-IN" dirty="0"/>
          </a:p>
        </p:txBody>
      </p:sp>
      <p:sp>
        <p:nvSpPr>
          <p:cNvPr id="42" name="TextBox 41"/>
          <p:cNvSpPr txBox="1"/>
          <p:nvPr/>
        </p:nvSpPr>
        <p:spPr>
          <a:xfrm>
            <a:off x="8001000" y="5305510"/>
            <a:ext cx="1981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&lt;1s</a:t>
            </a:r>
            <a:endParaRPr lang="en-US" sz="2400" dirty="0" smtClean="0"/>
          </a:p>
          <a:p>
            <a:endParaRPr lang="en-IN" dirty="0"/>
          </a:p>
        </p:txBody>
      </p:sp>
      <p:sp>
        <p:nvSpPr>
          <p:cNvPr id="43" name="TextBox 42"/>
          <p:cNvSpPr txBox="1"/>
          <p:nvPr/>
        </p:nvSpPr>
        <p:spPr>
          <a:xfrm>
            <a:off x="7838535" y="5674842"/>
            <a:ext cx="2466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Latency</a:t>
            </a:r>
            <a:endParaRPr lang="en-US" sz="14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4179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250" y="215899"/>
            <a:ext cx="11741150" cy="64325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2057400"/>
            <a:ext cx="960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Detection Pipeline</a:t>
            </a:r>
            <a:endParaRPr lang="en-US" sz="3200" dirty="0" smtClean="0"/>
          </a:p>
          <a:p>
            <a:endParaRPr lang="en-IN" sz="3200" dirty="0"/>
          </a:p>
        </p:txBody>
      </p:sp>
      <p:sp>
        <p:nvSpPr>
          <p:cNvPr id="5" name="Shape 23"/>
          <p:cNvSpPr/>
          <p:nvPr/>
        </p:nvSpPr>
        <p:spPr>
          <a:xfrm>
            <a:off x="609600" y="2879852"/>
            <a:ext cx="1907700" cy="2377948"/>
          </a:xfrm>
          <a:prstGeom prst="rect">
            <a:avLst/>
          </a:prstGeom>
          <a:solidFill>
            <a:srgbClr val="242424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9" name="Shape 23"/>
          <p:cNvSpPr/>
          <p:nvPr/>
        </p:nvSpPr>
        <p:spPr>
          <a:xfrm>
            <a:off x="2898300" y="2879852"/>
            <a:ext cx="1907700" cy="2377948"/>
          </a:xfrm>
          <a:prstGeom prst="rect">
            <a:avLst/>
          </a:prstGeom>
          <a:solidFill>
            <a:srgbClr val="24242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23"/>
          <p:cNvSpPr/>
          <p:nvPr/>
        </p:nvSpPr>
        <p:spPr>
          <a:xfrm>
            <a:off x="7518814" y="2879852"/>
            <a:ext cx="1907700" cy="2377948"/>
          </a:xfrm>
          <a:prstGeom prst="rect">
            <a:avLst/>
          </a:prstGeom>
          <a:solidFill>
            <a:srgbClr val="24242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23"/>
          <p:cNvSpPr/>
          <p:nvPr/>
        </p:nvSpPr>
        <p:spPr>
          <a:xfrm>
            <a:off x="9800143" y="2849372"/>
            <a:ext cx="1907700" cy="2377948"/>
          </a:xfrm>
          <a:prstGeom prst="rect">
            <a:avLst/>
          </a:prstGeom>
          <a:solidFill>
            <a:srgbClr val="24242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47"/>
          <p:cNvSpPr/>
          <p:nvPr/>
        </p:nvSpPr>
        <p:spPr>
          <a:xfrm>
            <a:off x="1895207" y="5724523"/>
            <a:ext cx="8503920" cy="457200"/>
          </a:xfrm>
          <a:prstGeom prst="rect">
            <a:avLst/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4" name="TextBox 13"/>
          <p:cNvSpPr txBox="1"/>
          <p:nvPr/>
        </p:nvSpPr>
        <p:spPr>
          <a:xfrm>
            <a:off x="2743200" y="5798571"/>
            <a:ext cx="693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Datasets: CICIDS2017  ·  CICIDS2018  ·  CICDDoS2019</a:t>
            </a:r>
            <a:endParaRPr lang="en-US" dirty="0" smtClean="0"/>
          </a:p>
          <a:p>
            <a:endParaRPr lang="en-IN" dirty="0"/>
          </a:p>
        </p:txBody>
      </p:sp>
      <p:cxnSp>
        <p:nvCxnSpPr>
          <p:cNvPr id="17" name="Straight Connector 16"/>
          <p:cNvCxnSpPr>
            <a:stCxn id="5" idx="3"/>
            <a:endCxn id="9" idx="1"/>
          </p:cNvCxnSpPr>
          <p:nvPr/>
        </p:nvCxnSpPr>
        <p:spPr>
          <a:xfrm>
            <a:off x="2517300" y="4068826"/>
            <a:ext cx="38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819688" y="4064508"/>
            <a:ext cx="374103" cy="4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11" idx="1"/>
          </p:cNvCxnSpPr>
          <p:nvPr/>
        </p:nvCxnSpPr>
        <p:spPr>
          <a:xfrm>
            <a:off x="7101017" y="4068826"/>
            <a:ext cx="4177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2" idx="1"/>
          </p:cNvCxnSpPr>
          <p:nvPr/>
        </p:nvCxnSpPr>
        <p:spPr>
          <a:xfrm flipH="1">
            <a:off x="9426514" y="4038346"/>
            <a:ext cx="3736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36088" y="2920128"/>
            <a:ext cx="12252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2"/>
                </a:solidFill>
              </a:rPr>
              <a:t>📥</a:t>
            </a:r>
          </a:p>
          <a:p>
            <a:endParaRPr lang="en-IN" dirty="0"/>
          </a:p>
        </p:txBody>
      </p:sp>
      <p:sp>
        <p:nvSpPr>
          <p:cNvPr id="44" name="TextBox 43"/>
          <p:cNvSpPr txBox="1"/>
          <p:nvPr/>
        </p:nvSpPr>
        <p:spPr>
          <a:xfrm>
            <a:off x="838200" y="4261485"/>
            <a:ext cx="137769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6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600" dirty="0" smtClean="0"/>
          </a:p>
          <a:p>
            <a:pPr marL="0" indent="0" algn="ctr">
              <a:buNone/>
            </a:pPr>
            <a:r>
              <a:rPr lang="en-US" sz="16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600" dirty="0" smtClean="0"/>
          </a:p>
          <a:p>
            <a:endParaRPr lang="en-IN" dirty="0"/>
          </a:p>
        </p:txBody>
      </p:sp>
      <p:sp>
        <p:nvSpPr>
          <p:cNvPr id="49" name="TextBox 48"/>
          <p:cNvSpPr txBox="1"/>
          <p:nvPr/>
        </p:nvSpPr>
        <p:spPr>
          <a:xfrm>
            <a:off x="936088" y="3513385"/>
            <a:ext cx="12798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dirty="0" smtClean="0"/>
          </a:p>
          <a:p>
            <a:pPr marL="0" indent="0" algn="ctr">
              <a:buNone/>
            </a:pP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dirty="0" smtClean="0"/>
          </a:p>
          <a:p>
            <a:endParaRPr lang="en-IN" dirty="0"/>
          </a:p>
        </p:txBody>
      </p:sp>
      <p:sp>
        <p:nvSpPr>
          <p:cNvPr id="52" name="TextBox 51"/>
          <p:cNvSpPr txBox="1"/>
          <p:nvPr/>
        </p:nvSpPr>
        <p:spPr>
          <a:xfrm>
            <a:off x="3429000" y="3007235"/>
            <a:ext cx="6945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2"/>
                </a:solidFill>
              </a:rPr>
              <a:t>⚙</a:t>
            </a:r>
          </a:p>
          <a:p>
            <a:endParaRPr lang="en-IN" dirty="0"/>
          </a:p>
        </p:txBody>
      </p:sp>
      <p:sp>
        <p:nvSpPr>
          <p:cNvPr id="55" name="TextBox 54"/>
          <p:cNvSpPr txBox="1"/>
          <p:nvPr/>
        </p:nvSpPr>
        <p:spPr>
          <a:xfrm>
            <a:off x="2993386" y="3503525"/>
            <a:ext cx="16732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dirty="0" smtClean="0"/>
          </a:p>
          <a:p>
            <a:pPr marL="0" indent="0" algn="ctr">
              <a:buNone/>
            </a:pP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3200400" y="4149856"/>
            <a:ext cx="12456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6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rates</a:t>
            </a:r>
            <a:endParaRPr lang="en-US" sz="1600" dirty="0" smtClean="0"/>
          </a:p>
          <a:p>
            <a:pPr marL="0" indent="0" algn="ctr">
              <a:buNone/>
            </a:pPr>
            <a:r>
              <a:rPr lang="en-US" sz="16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patterns</a:t>
            </a:r>
            <a:endParaRPr lang="en-US" sz="1600" dirty="0" smtClean="0"/>
          </a:p>
          <a:p>
            <a:endParaRPr lang="en-IN" dirty="0"/>
          </a:p>
        </p:txBody>
      </p:sp>
      <p:sp>
        <p:nvSpPr>
          <p:cNvPr id="60" name="Shape 33"/>
          <p:cNvSpPr/>
          <p:nvPr/>
        </p:nvSpPr>
        <p:spPr>
          <a:xfrm>
            <a:off x="5139538" y="2879852"/>
            <a:ext cx="1961479" cy="23474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1" name="TextBox 60"/>
          <p:cNvSpPr txBox="1"/>
          <p:nvPr/>
        </p:nvSpPr>
        <p:spPr>
          <a:xfrm>
            <a:off x="5791200" y="3134618"/>
            <a:ext cx="685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dirty="0" smtClean="0"/>
          </a:p>
          <a:p>
            <a:endParaRPr lang="en-IN" dirty="0"/>
          </a:p>
        </p:txBody>
      </p:sp>
      <p:sp>
        <p:nvSpPr>
          <p:cNvPr id="62" name="TextBox 61"/>
          <p:cNvSpPr txBox="1"/>
          <p:nvPr/>
        </p:nvSpPr>
        <p:spPr>
          <a:xfrm flipH="1">
            <a:off x="5684518" y="3007235"/>
            <a:ext cx="944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400" dirty="0" smtClean="0">
                <a:solidFill>
                  <a:schemeClr val="tx2"/>
                </a:solidFill>
              </a:rPr>
              <a:t>🤖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499706" y="3528626"/>
            <a:ext cx="137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dirty="0" smtClean="0"/>
          </a:p>
          <a:p>
            <a:pPr marL="0" indent="0" algn="ctr">
              <a:buNone/>
            </a:pP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dirty="0" smtClean="0"/>
          </a:p>
          <a:p>
            <a:endParaRPr lang="en-IN" dirty="0"/>
          </a:p>
        </p:txBody>
      </p:sp>
      <p:sp>
        <p:nvSpPr>
          <p:cNvPr id="65" name="TextBox 64"/>
          <p:cNvSpPr txBox="1"/>
          <p:nvPr/>
        </p:nvSpPr>
        <p:spPr>
          <a:xfrm>
            <a:off x="5444212" y="4149187"/>
            <a:ext cx="148258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6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LSTM</a:t>
            </a:r>
            <a:endParaRPr lang="en-US" sz="1600" dirty="0" smtClean="0"/>
          </a:p>
          <a:p>
            <a:pPr marL="0" indent="0" algn="ctr">
              <a:buNone/>
            </a:pPr>
            <a:r>
              <a:rPr lang="en-US" sz="16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SVM Ensemble</a:t>
            </a:r>
            <a:endParaRPr lang="en-US" sz="1600" dirty="0" smtClean="0"/>
          </a:p>
          <a:p>
            <a:endParaRPr lang="en-IN" dirty="0"/>
          </a:p>
        </p:txBody>
      </p:sp>
      <p:sp>
        <p:nvSpPr>
          <p:cNvPr id="66" name="TextBox 65"/>
          <p:cNvSpPr txBox="1"/>
          <p:nvPr/>
        </p:nvSpPr>
        <p:spPr>
          <a:xfrm>
            <a:off x="7752679" y="3007235"/>
            <a:ext cx="14371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2"/>
                </a:solidFill>
              </a:rPr>
              <a:t>⚖</a:t>
            </a:r>
          </a:p>
          <a:p>
            <a:endParaRPr lang="en-IN" dirty="0"/>
          </a:p>
        </p:txBody>
      </p:sp>
      <p:sp>
        <p:nvSpPr>
          <p:cNvPr id="67" name="TextBox 66"/>
          <p:cNvSpPr txBox="1"/>
          <p:nvPr/>
        </p:nvSpPr>
        <p:spPr>
          <a:xfrm>
            <a:off x="7693032" y="3468900"/>
            <a:ext cx="15656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dirty="0" smtClean="0"/>
          </a:p>
          <a:p>
            <a:pPr marL="0" indent="0" algn="ctr">
              <a:buNone/>
            </a:pP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dirty="0" smtClean="0"/>
          </a:p>
          <a:p>
            <a:endParaRPr lang="en-IN" dirty="0"/>
          </a:p>
        </p:txBody>
      </p:sp>
      <p:sp>
        <p:nvSpPr>
          <p:cNvPr id="68" name="TextBox 67"/>
          <p:cNvSpPr txBox="1"/>
          <p:nvPr/>
        </p:nvSpPr>
        <p:spPr>
          <a:xfrm>
            <a:off x="7653499" y="4113344"/>
            <a:ext cx="16354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6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600" dirty="0" smtClean="0"/>
          </a:p>
          <a:p>
            <a:pPr marL="0" indent="0" algn="ctr">
              <a:buNone/>
            </a:pPr>
            <a:r>
              <a:rPr lang="en-US" sz="16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600" dirty="0" smtClean="0"/>
          </a:p>
          <a:p>
            <a:endParaRPr lang="en-IN" sz="1600" dirty="0"/>
          </a:p>
        </p:txBody>
      </p:sp>
      <p:sp>
        <p:nvSpPr>
          <p:cNvPr id="69" name="TextBox 68"/>
          <p:cNvSpPr txBox="1"/>
          <p:nvPr/>
        </p:nvSpPr>
        <p:spPr>
          <a:xfrm>
            <a:off x="10210800" y="3007235"/>
            <a:ext cx="9767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tx2"/>
                </a:solidFill>
              </a:rPr>
              <a:t>🚨</a:t>
            </a:r>
          </a:p>
          <a:p>
            <a:endParaRPr lang="en-IN" dirty="0"/>
          </a:p>
        </p:txBody>
      </p:sp>
      <p:sp>
        <p:nvSpPr>
          <p:cNvPr id="70" name="TextBox 69"/>
          <p:cNvSpPr txBox="1"/>
          <p:nvPr/>
        </p:nvSpPr>
        <p:spPr>
          <a:xfrm>
            <a:off x="9999787" y="3442097"/>
            <a:ext cx="14900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dirty="0" smtClean="0"/>
          </a:p>
          <a:p>
            <a:pPr marL="0" indent="0" algn="ctr">
              <a:buNone/>
            </a:pPr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dirty="0" smtClean="0"/>
          </a:p>
          <a:p>
            <a:endParaRPr lang="en-IN" dirty="0"/>
          </a:p>
        </p:txBody>
      </p:sp>
      <p:sp>
        <p:nvSpPr>
          <p:cNvPr id="71" name="TextBox 70"/>
          <p:cNvSpPr txBox="1"/>
          <p:nvPr/>
        </p:nvSpPr>
        <p:spPr>
          <a:xfrm>
            <a:off x="9999787" y="4064508"/>
            <a:ext cx="15826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6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 Rate</a:t>
            </a:r>
            <a:endParaRPr lang="en-US" sz="1600" dirty="0" smtClean="0"/>
          </a:p>
          <a:p>
            <a:pPr marL="0" indent="0" algn="ctr">
              <a:buNone/>
            </a:pPr>
            <a:r>
              <a:rPr lang="en-US" sz="16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/ Alert</a:t>
            </a:r>
            <a:endParaRPr lang="en-US" sz="16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5664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250" y="215899"/>
            <a:ext cx="11741150" cy="64325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0600" y="1981200"/>
            <a:ext cx="9829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200" dirty="0" smtClean="0"/>
          </a:p>
          <a:p>
            <a:endParaRPr lang="en-IN" sz="3200" dirty="0"/>
          </a:p>
        </p:txBody>
      </p:sp>
      <p:sp>
        <p:nvSpPr>
          <p:cNvPr id="4" name="Shape 23"/>
          <p:cNvSpPr/>
          <p:nvPr/>
        </p:nvSpPr>
        <p:spPr>
          <a:xfrm>
            <a:off x="838200" y="2819400"/>
            <a:ext cx="4495800" cy="832499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23"/>
          <p:cNvSpPr/>
          <p:nvPr/>
        </p:nvSpPr>
        <p:spPr>
          <a:xfrm>
            <a:off x="853440" y="3877434"/>
            <a:ext cx="4495800" cy="832499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23"/>
          <p:cNvSpPr/>
          <p:nvPr/>
        </p:nvSpPr>
        <p:spPr>
          <a:xfrm>
            <a:off x="853440" y="4935470"/>
            <a:ext cx="4495800" cy="832499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Shape 23"/>
          <p:cNvSpPr/>
          <p:nvPr/>
        </p:nvSpPr>
        <p:spPr>
          <a:xfrm>
            <a:off x="6379464" y="4935470"/>
            <a:ext cx="4524756" cy="832499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23"/>
          <p:cNvSpPr/>
          <p:nvPr/>
        </p:nvSpPr>
        <p:spPr>
          <a:xfrm>
            <a:off x="6379464" y="3877434"/>
            <a:ext cx="4524756" cy="832499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Shape 23"/>
          <p:cNvSpPr/>
          <p:nvPr/>
        </p:nvSpPr>
        <p:spPr>
          <a:xfrm>
            <a:off x="6379464" y="2820159"/>
            <a:ext cx="4524756" cy="832499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24"/>
          <p:cNvSpPr/>
          <p:nvPr/>
        </p:nvSpPr>
        <p:spPr>
          <a:xfrm>
            <a:off x="859536" y="2819400"/>
            <a:ext cx="64008" cy="8229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Shape 32"/>
          <p:cNvSpPr/>
          <p:nvPr/>
        </p:nvSpPr>
        <p:spPr>
          <a:xfrm>
            <a:off x="859536" y="3877434"/>
            <a:ext cx="64008" cy="822960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15" name="Shape 40"/>
          <p:cNvSpPr/>
          <p:nvPr/>
        </p:nvSpPr>
        <p:spPr>
          <a:xfrm>
            <a:off x="853440" y="4935470"/>
            <a:ext cx="64008" cy="822960"/>
          </a:xfrm>
          <a:prstGeom prst="rect">
            <a:avLst/>
          </a:prstGeom>
          <a:solidFill>
            <a:srgbClr val="E25A1C"/>
          </a:solidFill>
          <a:ln w="12700">
            <a:solidFill>
              <a:srgbClr val="E25A1C"/>
            </a:solidFill>
            <a:prstDash val="solid"/>
          </a:ln>
        </p:spPr>
      </p:sp>
      <p:sp>
        <p:nvSpPr>
          <p:cNvPr id="16" name="Shape 36"/>
          <p:cNvSpPr/>
          <p:nvPr/>
        </p:nvSpPr>
        <p:spPr>
          <a:xfrm>
            <a:off x="6385560" y="3897377"/>
            <a:ext cx="64008" cy="82296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17" name="Shape 28"/>
          <p:cNvSpPr/>
          <p:nvPr/>
        </p:nvSpPr>
        <p:spPr>
          <a:xfrm>
            <a:off x="6385560" y="2828937"/>
            <a:ext cx="64008" cy="82296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18" name="Shape 44"/>
          <p:cNvSpPr/>
          <p:nvPr/>
        </p:nvSpPr>
        <p:spPr>
          <a:xfrm>
            <a:off x="6388608" y="4937192"/>
            <a:ext cx="64008" cy="822960"/>
          </a:xfrm>
          <a:prstGeom prst="rect">
            <a:avLst/>
          </a:prstGeom>
          <a:solidFill>
            <a:srgbClr val="F0513F"/>
          </a:solidFill>
          <a:ln w="12700">
            <a:solidFill>
              <a:srgbClr val="F0513F"/>
            </a:solidFill>
            <a:prstDash val="solid"/>
          </a:ln>
        </p:spPr>
      </p:sp>
      <p:sp>
        <p:nvSpPr>
          <p:cNvPr id="19" name="TextBox 18"/>
          <p:cNvSpPr txBox="1"/>
          <p:nvPr/>
        </p:nvSpPr>
        <p:spPr>
          <a:xfrm>
            <a:off x="1075944" y="2805827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</a:t>
            </a:r>
            <a:endParaRPr lang="en-US" dirty="0" smtClean="0"/>
          </a:p>
          <a:p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1098042" y="3154474"/>
            <a:ext cx="4105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 · VPC · Security Groups</a:t>
            </a:r>
            <a:endParaRPr lang="en-US" sz="1400" dirty="0" smtClean="0"/>
          </a:p>
          <a:p>
            <a:endParaRPr lang="en-IN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990600" y="3903230"/>
            <a:ext cx="2470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Streaming</a:t>
            </a:r>
            <a:endParaRPr lang="en-US" dirty="0" smtClean="0"/>
          </a:p>
          <a:p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1075944" y="4271175"/>
            <a:ext cx="3572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· High-throughput topics</a:t>
            </a:r>
            <a:endParaRPr lang="en-US" sz="1400" dirty="0" smtClean="0"/>
          </a:p>
          <a:p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1043940" y="4935468"/>
            <a:ext cx="2962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dirty="0" smtClean="0"/>
          </a:p>
          <a:p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1075944" y="5306733"/>
            <a:ext cx="312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· Spark Streaming</a:t>
            </a:r>
            <a:endParaRPr lang="en-US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6524244" y="2828937"/>
            <a:ext cx="388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</a:t>
            </a:r>
            <a:endParaRPr lang="en-US" dirty="0" smtClean="0"/>
          </a:p>
          <a:p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6564249" y="3148155"/>
            <a:ext cx="403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r>
              <a:rPr lang="en-US" sz="14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Horizontal Pod </a:t>
            </a:r>
            <a:r>
              <a:rPr lang="en-US" sz="1400" dirty="0" err="1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</a:t>
            </a:r>
            <a:endParaRPr lang="en-US" sz="1400" dirty="0" smtClean="0"/>
          </a:p>
          <a:p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6524244" y="3897378"/>
            <a:ext cx="3770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Frameworks</a:t>
            </a:r>
            <a:endParaRPr lang="en-US" dirty="0" smtClean="0"/>
          </a:p>
          <a:p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6524244" y="4230614"/>
            <a:ext cx="403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r>
              <a:rPr lang="en-US" sz="14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400" dirty="0" err="1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4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400" dirty="0" err="1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</a:t>
            </a:r>
            <a:r>
              <a:rPr lang="en-US" sz="14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-learn</a:t>
            </a:r>
            <a:endParaRPr lang="en-US" sz="1400" dirty="0" smtClean="0"/>
          </a:p>
          <a:p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6528816" y="4959588"/>
            <a:ext cx="3570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dirty="0" smtClean="0"/>
          </a:p>
          <a:p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6554724" y="5289411"/>
            <a:ext cx="464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</a:t>
            </a:r>
            <a:r>
              <a:rPr lang="en-US" sz="1400" dirty="0" err="1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r>
              <a:rPr lang="en-US" sz="14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ELK Stack</a:t>
            </a:r>
            <a:endParaRPr lang="en-US" sz="14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5666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250" y="212726"/>
            <a:ext cx="11741150" cy="64325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0600" y="2057400"/>
            <a:ext cx="10210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Mitigation &amp; Response Flow</a:t>
            </a:r>
            <a:endParaRPr lang="en-US" sz="3200" dirty="0" smtClean="0"/>
          </a:p>
          <a:p>
            <a:endParaRPr lang="en-IN" dirty="0"/>
          </a:p>
        </p:txBody>
      </p:sp>
      <p:sp>
        <p:nvSpPr>
          <p:cNvPr id="4" name="Shape 23"/>
          <p:cNvSpPr/>
          <p:nvPr/>
        </p:nvSpPr>
        <p:spPr>
          <a:xfrm>
            <a:off x="4419600" y="2819400"/>
            <a:ext cx="3048000" cy="609600"/>
          </a:xfrm>
          <a:prstGeom prst="roundRect">
            <a:avLst>
              <a:gd name="adj" fmla="val 14545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25"/>
          <p:cNvSpPr/>
          <p:nvPr/>
        </p:nvSpPr>
        <p:spPr>
          <a:xfrm>
            <a:off x="5867400" y="3429000"/>
            <a:ext cx="0" cy="3200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0" name="Rectangle 9"/>
          <p:cNvSpPr/>
          <p:nvPr/>
        </p:nvSpPr>
        <p:spPr>
          <a:xfrm>
            <a:off x="4419600" y="3759277"/>
            <a:ext cx="3048000" cy="5841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Scores &gt; Threshold?</a:t>
            </a:r>
            <a:endParaRPr lang="en-US" sz="1600" dirty="0"/>
          </a:p>
        </p:txBody>
      </p:sp>
      <p:sp>
        <p:nvSpPr>
          <p:cNvPr id="11" name="Shape 30"/>
          <p:cNvSpPr/>
          <p:nvPr/>
        </p:nvSpPr>
        <p:spPr>
          <a:xfrm flipH="1">
            <a:off x="3048000" y="4038600"/>
            <a:ext cx="1371600" cy="0"/>
          </a:xfrm>
          <a:prstGeom prst="line">
            <a:avLst/>
          </a:prstGeom>
          <a:noFill/>
          <a:ln w="19050">
            <a:solidFill>
              <a:srgbClr val="FF4444"/>
            </a:solidFill>
            <a:prstDash val="solid"/>
          </a:ln>
        </p:spPr>
      </p:sp>
      <p:sp>
        <p:nvSpPr>
          <p:cNvPr id="12" name="Shape 30"/>
          <p:cNvSpPr/>
          <p:nvPr/>
        </p:nvSpPr>
        <p:spPr>
          <a:xfrm>
            <a:off x="3048000" y="4038600"/>
            <a:ext cx="0" cy="320040"/>
          </a:xfrm>
          <a:prstGeom prst="line">
            <a:avLst/>
          </a:prstGeom>
          <a:noFill/>
          <a:ln w="19050">
            <a:solidFill>
              <a:srgbClr val="FF4444"/>
            </a:solidFill>
            <a:prstDash val="solid"/>
          </a:ln>
        </p:spPr>
      </p:sp>
      <p:sp>
        <p:nvSpPr>
          <p:cNvPr id="13" name="Shape 34"/>
          <p:cNvSpPr/>
          <p:nvPr/>
        </p:nvSpPr>
        <p:spPr>
          <a:xfrm>
            <a:off x="7467600" y="4038600"/>
            <a:ext cx="1371600" cy="0"/>
          </a:xfrm>
          <a:prstGeom prst="line">
            <a:avLst/>
          </a:prstGeom>
          <a:noFill/>
          <a:ln w="19050">
            <a:solidFill>
              <a:srgbClr val="44FF88"/>
            </a:solidFill>
            <a:prstDash val="solid"/>
          </a:ln>
        </p:spPr>
      </p:sp>
      <p:sp>
        <p:nvSpPr>
          <p:cNvPr id="14" name="Shape 36"/>
          <p:cNvSpPr/>
          <p:nvPr/>
        </p:nvSpPr>
        <p:spPr>
          <a:xfrm>
            <a:off x="8839200" y="4038600"/>
            <a:ext cx="0" cy="320040"/>
          </a:xfrm>
          <a:prstGeom prst="line">
            <a:avLst/>
          </a:prstGeom>
          <a:noFill/>
          <a:ln w="19050">
            <a:solidFill>
              <a:srgbClr val="44FF88"/>
            </a:solidFill>
            <a:prstDash val="solid"/>
          </a:ln>
        </p:spPr>
      </p:sp>
      <p:sp>
        <p:nvSpPr>
          <p:cNvPr id="15" name="Shape 31"/>
          <p:cNvSpPr/>
          <p:nvPr/>
        </p:nvSpPr>
        <p:spPr>
          <a:xfrm>
            <a:off x="1371600" y="4352544"/>
            <a:ext cx="2926080" cy="1463040"/>
          </a:xfrm>
          <a:prstGeom prst="rect">
            <a:avLst/>
          </a:prstGeom>
          <a:solidFill>
            <a:srgbClr val="2D000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6" name="Shape 37"/>
          <p:cNvSpPr/>
          <p:nvPr/>
        </p:nvSpPr>
        <p:spPr>
          <a:xfrm>
            <a:off x="7848600" y="4352544"/>
            <a:ext cx="2834640" cy="1463040"/>
          </a:xfrm>
          <a:prstGeom prst="rect">
            <a:avLst/>
          </a:prstGeom>
          <a:solidFill>
            <a:srgbClr val="002D00"/>
          </a:solidFill>
          <a:ln w="12700">
            <a:solidFill>
              <a:srgbClr val="44FF88"/>
            </a:solidFill>
            <a:prstDash val="solid"/>
          </a:ln>
        </p:spPr>
      </p:sp>
      <p:sp>
        <p:nvSpPr>
          <p:cNvPr id="17" name="Shape 39"/>
          <p:cNvSpPr/>
          <p:nvPr/>
        </p:nvSpPr>
        <p:spPr>
          <a:xfrm>
            <a:off x="1981200" y="6161253"/>
            <a:ext cx="8412480" cy="411480"/>
          </a:xfrm>
          <a:prstGeom prst="rect">
            <a:avLst/>
          </a:prstGeom>
          <a:solidFill>
            <a:srgbClr val="1A1A2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8" name="TextBox 17"/>
          <p:cNvSpPr txBox="1"/>
          <p:nvPr/>
        </p:nvSpPr>
        <p:spPr>
          <a:xfrm>
            <a:off x="4419600" y="2919175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Detected</a:t>
            </a:r>
            <a:endParaRPr lang="en-US" dirty="0" smtClean="0"/>
          </a:p>
          <a:p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1524000" y="4514087"/>
            <a:ext cx="2667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DETECTED</a:t>
            </a:r>
            <a:endParaRPr lang="en-US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1524000" y="4841924"/>
            <a:ext cx="23622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Blacklisting
Rate Limiting
Traffic Diversion
Auto-Scaling Triggered</a:t>
            </a:r>
            <a:endParaRPr lang="en-US" sz="1400" dirty="0" smtClean="0"/>
          </a:p>
          <a:p>
            <a:endParaRPr lang="en-IN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8077200" y="4675630"/>
            <a:ext cx="25222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400" dirty="0" smtClean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Traffic</a:t>
            </a:r>
            <a:endParaRPr lang="en-US" sz="1400" dirty="0" smtClean="0"/>
          </a:p>
          <a:p>
            <a:pPr marL="0" indent="0" algn="ctr">
              <a:buNone/>
            </a:pPr>
            <a:r>
              <a:rPr lang="en-US" sz="1400" dirty="0" smtClean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through · Log event</a:t>
            </a:r>
            <a:endParaRPr lang="en-US" sz="1400" dirty="0" smtClean="0"/>
          </a:p>
          <a:p>
            <a:pPr marL="0" indent="0" algn="ctr">
              <a:buNone/>
            </a:pPr>
            <a:r>
              <a:rPr lang="en-US" sz="1400" dirty="0" smtClean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monitoring</a:t>
            </a:r>
            <a:endParaRPr lang="en-US" sz="1400" dirty="0" smtClean="0"/>
          </a:p>
          <a:p>
            <a:endParaRPr lang="en-IN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7848600" y="3759277"/>
            <a:ext cx="60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dirty="0" smtClean="0"/>
          </a:p>
          <a:p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3429000" y="374904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90800" y="6248400"/>
            <a:ext cx="73914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System: Email Notifications  ·  Slack Integration  ·  Tiered Escalation Procedures</a:t>
            </a:r>
            <a:endParaRPr lang="en-US" sz="16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7149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89346"/>
            <a:ext cx="11741150" cy="64325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81400" y="1271744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7"/>
          <p:cNvSpPr/>
          <p:nvPr/>
        </p:nvSpPr>
        <p:spPr>
          <a:xfrm>
            <a:off x="615696" y="2116287"/>
            <a:ext cx="4876800" cy="1910645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1066800" y="2743200"/>
            <a:ext cx="609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dirty="0" smtClean="0">
              <a:solidFill>
                <a:schemeClr val="tx2"/>
              </a:solidFill>
            </a:endParaRPr>
          </a:p>
          <a:p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1600200" y="2929354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248400" y="4310622"/>
            <a:ext cx="5029200" cy="198120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15696" y="4338054"/>
            <a:ext cx="4876800" cy="198120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248400" y="2116287"/>
            <a:ext cx="5029200" cy="1910645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Box 13"/>
          <p:cNvSpPr txBox="1"/>
          <p:nvPr/>
        </p:nvSpPr>
        <p:spPr>
          <a:xfrm>
            <a:off x="783082" y="2638854"/>
            <a:ext cx="727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 smtClean="0">
                <a:solidFill>
                  <a:schemeClr val="tx2"/>
                </a:solidFill>
              </a:rPr>
              <a:t>✅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24000" y="2438799"/>
            <a:ext cx="3429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Defense</a:t>
            </a:r>
            <a:endParaRPr 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1527048" y="2895133"/>
            <a:ext cx="350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CDN, WAF, and ML-driven detection for comprehensive cloud protection.</a:t>
            </a:r>
            <a:endParaRPr lang="en-IN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6477000" y="2638854"/>
            <a:ext cx="8382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tx2"/>
                </a:solidFill>
              </a:rPr>
              <a:t>🤖</a:t>
            </a:r>
          </a:p>
          <a:p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7391400" y="2438799"/>
            <a:ext cx="34290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Accuracy</a:t>
            </a:r>
            <a:endParaRPr lang="en-US" sz="2000" dirty="0" smtClean="0"/>
          </a:p>
          <a:p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7315200" y="2929354"/>
            <a:ext cx="3811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600" dirty="0" smtClean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achieves 99.2% detection accuracy with sub-second response latency.</a:t>
            </a:r>
            <a:endParaRPr lang="en-US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796925" y="4876800"/>
            <a:ext cx="713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 smtClean="0">
                <a:solidFill>
                  <a:schemeClr val="tx2"/>
                </a:solidFill>
              </a:rPr>
              <a:t>📈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00200" y="4653845"/>
            <a:ext cx="28956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&amp; Scalable</a:t>
            </a:r>
            <a:endParaRPr lang="en-US" sz="2000" dirty="0" smtClean="0"/>
          </a:p>
          <a:p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1590802" y="5145256"/>
            <a:ext cx="373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600" dirty="0" err="1" smtClean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r>
              <a:rPr lang="en-US" sz="1600" dirty="0" smtClean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auto-scaling ensures uptime even during massive volumetric attacks.</a:t>
            </a:r>
            <a:endParaRPr lang="en-US"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6309106" y="4839999"/>
            <a:ext cx="9298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tx2"/>
                </a:solidFill>
              </a:rPr>
              <a:t>🔁</a:t>
            </a:r>
          </a:p>
          <a:p>
            <a:endParaRPr lang="en-IN" sz="2800" dirty="0"/>
          </a:p>
        </p:txBody>
      </p:sp>
      <p:sp>
        <p:nvSpPr>
          <p:cNvPr id="25" name="TextBox 24"/>
          <p:cNvSpPr txBox="1"/>
          <p:nvPr/>
        </p:nvSpPr>
        <p:spPr>
          <a:xfrm>
            <a:off x="7315200" y="4653845"/>
            <a:ext cx="36576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</a:t>
            </a:r>
            <a:endParaRPr lang="en-US" sz="2000" dirty="0" smtClean="0"/>
          </a:p>
          <a:p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7205472" y="5138410"/>
            <a:ext cx="3733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retrain on new attack data, staying effective against evolving threats.</a:t>
            </a:r>
            <a:endParaRPr lang="en-US" sz="1600" dirty="0" smtClean="0"/>
          </a:p>
          <a:p>
            <a:endParaRPr lang="en-IN" dirty="0"/>
          </a:p>
        </p:txBody>
      </p:sp>
      <p:sp>
        <p:nvSpPr>
          <p:cNvPr id="28" name="Shape 23"/>
          <p:cNvSpPr/>
          <p:nvPr/>
        </p:nvSpPr>
        <p:spPr>
          <a:xfrm>
            <a:off x="1371600" y="6344896"/>
            <a:ext cx="9144000" cy="21211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9" name="TextBox 28"/>
          <p:cNvSpPr txBox="1"/>
          <p:nvPr/>
        </p:nvSpPr>
        <p:spPr>
          <a:xfrm>
            <a:off x="2151126" y="6344895"/>
            <a:ext cx="75849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BYTEFORCE  ·  </a:t>
            </a:r>
            <a:r>
              <a:rPr lang="en-US" sz="1200" dirty="0" err="1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Pranveer</a:t>
            </a:r>
            <a:r>
              <a:rPr lang="en-US" sz="1200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Singh Institute of Technology  ·  Eclipse 6.0</a:t>
            </a:r>
            <a:endParaRPr lang="en-US" sz="12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7736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1660</TotalTime>
  <Words>353</Words>
  <Application>Microsoft Office PowerPoint</Application>
  <PresentationFormat>Widescreen</PresentationFormat>
  <Paragraphs>100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Yatin Mahna</dc:creator>
  <cp:lastModifiedBy>Microsoft account</cp:lastModifiedBy>
  <cp:revision>22</cp:revision>
  <dcterms:created xsi:type="dcterms:W3CDTF">2026-03-20T09:37:35Z</dcterms:created>
  <dcterms:modified xsi:type="dcterms:W3CDTF">2026-03-21T13:47:29Z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2026-03-20T00:00:00Z</vt:filetime>
  </property>
  <property fmtid="{D5CDD505-2E9C-101B-9397-08002B2CF9AE}" pid="5" name="Producer">
    <vt:lpwstr>Microsoft® PowerPoint® for Microsoft 365</vt:lpwstr>
  </property>
</Properties>
</file>